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59" r:id="rId8"/>
    <p:sldId id="260" r:id="rId9"/>
    <p:sldId id="261" r:id="rId10"/>
    <p:sldId id="270" r:id="rId11"/>
    <p:sldId id="262" r:id="rId12"/>
    <p:sldId id="263" r:id="rId13"/>
    <p:sldId id="264" r:id="rId14"/>
    <p:sldId id="269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E10419-E451-4CB8-8951-8EF4749FF6D0}">
          <p14:sldIdLst>
            <p14:sldId id="256"/>
            <p14:sldId id="257"/>
            <p14:sldId id="258"/>
            <p14:sldId id="266"/>
            <p14:sldId id="267"/>
            <p14:sldId id="268"/>
            <p14:sldId id="259"/>
            <p14:sldId id="260"/>
            <p14:sldId id="261"/>
            <p14:sldId id="270"/>
            <p14:sldId id="262"/>
            <p14:sldId id="263"/>
            <p14:sldId id="264"/>
            <p14:sldId id="269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3F6B"/>
    <a:srgbClr val="5AC9D4"/>
    <a:srgbClr val="D8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E99FA06-CE10-4044-817C-FEF3D8EBA96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70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29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E99FA06-CE10-4044-817C-FEF3D8EBA96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978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938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60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722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E99FA06-CE10-4044-817C-FEF3D8EBA96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390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32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5649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E99FA06-CE10-4044-817C-FEF3D8EBA96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15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E99FA06-CE10-4044-817C-FEF3D8EBA96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9713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gif"/><Relationship Id="rId4" Type="http://schemas.openxmlformats.org/officeDocument/2006/relationships/image" Target="../media/image23.gi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3943-DF09-4C62-B15C-F4CB67F6B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672" y="1020431"/>
            <a:ext cx="11610363" cy="1475013"/>
          </a:xfrm>
        </p:spPr>
        <p:txBody>
          <a:bodyPr>
            <a:noAutofit/>
          </a:bodyPr>
          <a:lstStyle/>
          <a:p>
            <a:r>
              <a:rPr lang="ru-RU" dirty="0"/>
              <a:t>Информационная система ветклиники (управления продажами и закупками товаров)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7B653-936C-4D97-8012-E7C4F445CC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на платформе "1С:Предприятие 8"</a:t>
            </a:r>
          </a:p>
        </p:txBody>
      </p:sp>
    </p:spTree>
    <p:extLst>
      <p:ext uri="{BB962C8B-B14F-4D97-AF65-F5344CB8AC3E}">
        <p14:creationId xmlns:p14="http://schemas.microsoft.com/office/powerpoint/2010/main" val="1148179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0A9F9-90EB-4F1B-941B-5EB6C2F1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Проблемы и цель проекта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4A969-1EBF-4A89-A00D-6C8014D0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28801"/>
            <a:ext cx="11029615" cy="4387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Проблемы:</a:t>
            </a:r>
          </a:p>
          <a:p>
            <a:r>
              <a:rPr lang="ru-RU" sz="2000" dirty="0"/>
              <a:t>Ручной учет → высокая вероятность ошибок</a:t>
            </a:r>
          </a:p>
          <a:p>
            <a:r>
              <a:rPr lang="ru-RU" sz="2000" dirty="0"/>
              <a:t>Отсутствие единой базы данных → разрозненная информация о клиентах, препаратах и остатках</a:t>
            </a:r>
          </a:p>
          <a:p>
            <a:r>
              <a:rPr lang="ru-RU" sz="2000" dirty="0"/>
              <a:t>Нет прозрачного контроля закупок и продаж → сложно отследить динамику</a:t>
            </a:r>
          </a:p>
          <a:p>
            <a:r>
              <a:rPr lang="ru-RU" sz="2000" dirty="0"/>
              <a:t>Формирование отчетов занимает много времени → задержки в принятии решений</a:t>
            </a:r>
          </a:p>
          <a:p>
            <a:r>
              <a:rPr lang="ru-RU" sz="2000" dirty="0"/>
              <a:t>Нет разграничения прав сотрудников → риск некорректных действий</a:t>
            </a:r>
          </a:p>
          <a:p>
            <a:pPr marL="0" indent="0">
              <a:buNone/>
            </a:pPr>
            <a:r>
              <a:rPr lang="ru-RU" sz="2800" dirty="0"/>
              <a:t>Цель проекта:</a:t>
            </a:r>
          </a:p>
          <a:p>
            <a:pPr marL="0" indent="0">
              <a:buNone/>
            </a:pPr>
            <a:r>
              <a:rPr lang="ru-RU" sz="2000" dirty="0"/>
              <a:t>Создание единой информационной системы для автоматизации ключевых процессов ветклиники: закупки, продажи, учёт лекарств и пациентов.</a:t>
            </a:r>
          </a:p>
        </p:txBody>
      </p:sp>
    </p:spTree>
    <p:extLst>
      <p:ext uri="{BB962C8B-B14F-4D97-AF65-F5344CB8AC3E}">
        <p14:creationId xmlns:p14="http://schemas.microsoft.com/office/powerpoint/2010/main" val="25093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0A583-2307-4F61-8F0A-50E1316E7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Функционал системы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332CD-7CF3-40E8-8171-2A5AD7A97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023" y="2180495"/>
            <a:ext cx="11029615" cy="3678303"/>
          </a:xfrm>
        </p:spPr>
        <p:txBody>
          <a:bodyPr>
            <a:normAutofit/>
          </a:bodyPr>
          <a:lstStyle/>
          <a:p>
            <a:r>
              <a:rPr lang="ru-RU" sz="2800" dirty="0"/>
              <a:t>Учёт лекарственных средств, сырья и остатков</a:t>
            </a:r>
          </a:p>
          <a:p>
            <a:r>
              <a:rPr lang="ru-RU" sz="2800" dirty="0"/>
              <a:t>Продажа и закупка препаратов</a:t>
            </a:r>
          </a:p>
          <a:p>
            <a:r>
              <a:rPr lang="ru-RU" sz="2800" dirty="0"/>
              <a:t>Работа с клиентами и пациентами</a:t>
            </a:r>
          </a:p>
          <a:p>
            <a:r>
              <a:rPr lang="ru-RU" sz="2800" dirty="0"/>
              <a:t>Отчётность (остатки, продажи, номенклатура)</a:t>
            </a:r>
          </a:p>
          <a:p>
            <a:r>
              <a:rPr lang="ru-RU" sz="2800" dirty="0"/>
              <a:t>Разграничение ролей: админ, покупка, продажа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F737B1-9A48-4ED8-8C58-85EDEAC13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551" y="2410192"/>
            <a:ext cx="3410426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837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86A13-81ED-4C5E-9EA0-B6B29CB72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Разграничение функционала по ролям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FE892-1BC5-40D9-B2DA-23B65E57F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853966"/>
            <a:ext cx="11029615" cy="20431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800" dirty="0"/>
              <a:t>Роль «Покупка» :</a:t>
            </a:r>
          </a:p>
          <a:p>
            <a:r>
              <a:rPr lang="ru-RU" sz="2000" dirty="0"/>
              <a:t>Добавление новых лекарственных средств</a:t>
            </a:r>
          </a:p>
          <a:p>
            <a:r>
              <a:rPr lang="ru-RU" sz="2000" dirty="0"/>
              <a:t>Отслеживание поступления лекарств</a:t>
            </a:r>
          </a:p>
          <a:p>
            <a:r>
              <a:rPr lang="ru-RU" sz="2000" dirty="0"/>
              <a:t>Мониторинг цен на лекарства</a:t>
            </a:r>
          </a:p>
          <a:p>
            <a:r>
              <a:rPr lang="ru-RU" sz="2000" dirty="0"/>
              <a:t>Отчет по остаткам лекарств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B2BA73-1949-4AA4-BB19-E9B54EE9C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1" y="3897140"/>
            <a:ext cx="11029615" cy="273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083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1FE4E-C53C-423A-A9CB-5ADC1F65B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Разграничение функционала по ролям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2F899-C518-44C6-9931-456A52A3B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874705"/>
            <a:ext cx="6414313" cy="26440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800" dirty="0"/>
              <a:t>Роль «Продажа» :</a:t>
            </a:r>
            <a:endParaRPr lang="ru-RU" sz="2000" dirty="0"/>
          </a:p>
          <a:p>
            <a:r>
              <a:rPr lang="ru-RU" sz="2000" dirty="0"/>
              <a:t>Работа с клиентами</a:t>
            </a:r>
          </a:p>
          <a:p>
            <a:r>
              <a:rPr lang="ru-RU" sz="2000" dirty="0"/>
              <a:t>Продажа лекарств (при попытке продажи больше лекарств чем есть в наличии выдает ошибку)</a:t>
            </a:r>
          </a:p>
          <a:p>
            <a:r>
              <a:rPr lang="ru-RU" sz="2000" dirty="0"/>
              <a:t>Корректировка цен на оказание услуг и лекарства</a:t>
            </a:r>
          </a:p>
          <a:p>
            <a:r>
              <a:rPr lang="ru-RU" sz="2000" dirty="0"/>
              <a:t>Отчет по продажам лекарств</a:t>
            </a:r>
          </a:p>
          <a:p>
            <a:endParaRPr lang="ru-RU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69D8D-E8A7-4E02-9938-F2FA2E7B2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53" y="4273691"/>
            <a:ext cx="11392694" cy="22357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E91143-81CB-4E5B-B656-A13A7895E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847" y="1874705"/>
            <a:ext cx="3896269" cy="14417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B3AAAA-FA5E-4006-BDB9-921DCFDFF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190" y="3305204"/>
            <a:ext cx="3467584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612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B7F6B-79F1-4EEE-968A-837F9035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Разграничение функционала по ролям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0EA56-9936-49D1-9594-46A54E1C9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618" y="1899821"/>
            <a:ext cx="11461071" cy="16667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800" dirty="0"/>
              <a:t>Роль «Админ» :</a:t>
            </a:r>
          </a:p>
          <a:p>
            <a:r>
              <a:rPr lang="ru-RU" sz="2000" dirty="0"/>
              <a:t>Наличие всего функционала других ролей</a:t>
            </a:r>
          </a:p>
          <a:p>
            <a:r>
              <a:rPr lang="ru-RU" sz="2000" dirty="0"/>
              <a:t>Просмотр и редактрование свойств и характеристик лекарственных средств</a:t>
            </a:r>
          </a:p>
          <a:p>
            <a:r>
              <a:rPr lang="ru-RU" sz="2000" dirty="0"/>
              <a:t>Просмотр и редактирование информации о сырье и продукции, которая производится из данного сырья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B8F1F1-4617-44A6-A1BE-FDBAA21A2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79" y="3566593"/>
            <a:ext cx="10520039" cy="307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95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DB13-05D8-4D1C-AC31-5C8C62C7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Интерфейс и дизайн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2A400-EEF6-4D6F-AAEE-078F8BA1A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193" y="2095151"/>
            <a:ext cx="6333688" cy="1518407"/>
          </a:xfrm>
        </p:spPr>
        <p:txBody>
          <a:bodyPr>
            <a:noAutofit/>
          </a:bodyPr>
          <a:lstStyle/>
          <a:p>
            <a:r>
              <a:rPr lang="ru-RU" sz="2400" dirty="0"/>
              <a:t>Верхняя панель навигации (Главное, Покупка, Продажа, Прочее)</a:t>
            </a:r>
          </a:p>
          <a:p>
            <a:r>
              <a:rPr lang="ru-RU" sz="2400" dirty="0"/>
              <a:t>Цветовая схема: тёмно-синий и бирюзовый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54A0BB2-E8DC-4FA7-9C1F-82ADCE592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881" y="1983480"/>
            <a:ext cx="4305564" cy="1763534"/>
          </a:xfrm>
          <a:prstGeom prst="rect">
            <a:avLst/>
          </a:prstGeom>
        </p:spPr>
      </p:pic>
      <p:pic>
        <p:nvPicPr>
          <p:cNvPr id="16" name="drawingObject7">
            <a:extLst>
              <a:ext uri="{FF2B5EF4-FFF2-40B4-BE49-F238E27FC236}">
                <a16:creationId xmlns:a16="http://schemas.microsoft.com/office/drawing/2014/main" id="{5BD22849-185B-4CF4-9B00-83C2A9306508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774523" y="3992753"/>
            <a:ext cx="8642954" cy="256703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7576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7D983-6ADC-450C-B4E6-F4D47D7DD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Интерфейс и дизайн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CBB4F-F95C-421C-A413-B00E79332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706" y="2004327"/>
            <a:ext cx="6314557" cy="789207"/>
          </a:xfrm>
        </p:spPr>
        <p:txBody>
          <a:bodyPr>
            <a:normAutofit fontScale="85000" lnSpcReduction="10000"/>
          </a:bodyPr>
          <a:lstStyle/>
          <a:p>
            <a:r>
              <a:rPr lang="ru-RU" sz="2800" dirty="0"/>
              <a:t>Примеры карточек лекарств с картинками</a:t>
            </a:r>
          </a:p>
          <a:p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FA29F5-D037-4C18-9821-B78955D61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752" y="2793534"/>
            <a:ext cx="3152792" cy="37337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07229C-0A66-494B-BA59-6B6DA9EE7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406" y="2014688"/>
            <a:ext cx="2680238" cy="45125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37971B-1AF7-4DDF-B3AB-27BF3DE79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590" y="2793534"/>
            <a:ext cx="4420632" cy="373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017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C0AEA-59BF-43E6-BFC4-EFADC0520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Демонстрация работы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32BC0-20A4-4E08-97DC-B5D1C91BB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0733"/>
            <a:ext cx="5416935" cy="571093"/>
          </a:xfrm>
        </p:spPr>
        <p:txBody>
          <a:bodyPr>
            <a:noAutofit/>
          </a:bodyPr>
          <a:lstStyle/>
          <a:p>
            <a:r>
              <a:rPr lang="ru-RU" sz="2800" dirty="0"/>
              <a:t>Окно «Поступление лекарств»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88F24-D4FD-4E1C-A2D2-F44445DFC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525" y="2029230"/>
            <a:ext cx="3305612" cy="4480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E367B8-1290-4A76-8DEA-236FBF831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2813728"/>
            <a:ext cx="7084967" cy="369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88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C0AEA-59BF-43E6-BFC4-EFADC0520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Демонстрация работы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32BC0-20A4-4E08-97DC-B5D1C91BB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0733"/>
            <a:ext cx="6290125" cy="571093"/>
          </a:xfrm>
        </p:spPr>
        <p:txBody>
          <a:bodyPr>
            <a:noAutofit/>
          </a:bodyPr>
          <a:lstStyle/>
          <a:p>
            <a:r>
              <a:rPr lang="ru-RU" sz="2800" dirty="0"/>
              <a:t>Окно «Производство комплектация»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F1F0F7-25C5-4511-8865-884F14ABC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896603"/>
            <a:ext cx="6480457" cy="34202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AAC6B1-28A7-4516-BE23-033B95A42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177" y="2284289"/>
            <a:ext cx="4363224" cy="403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430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93B5F-6786-407A-9F1A-C9AC8F942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Демонстрация работы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4A092-BECB-4AEA-8D41-C3EF9634A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4888"/>
            <a:ext cx="5198822" cy="579482"/>
          </a:xfrm>
        </p:spPr>
        <p:txBody>
          <a:bodyPr>
            <a:noAutofit/>
          </a:bodyPr>
          <a:lstStyle/>
          <a:p>
            <a:r>
              <a:rPr lang="ru-RU" sz="2800" dirty="0"/>
              <a:t>Окно «Амбулаторный приём»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33301B-504C-43E9-BBFC-1B6257574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780" y="2310651"/>
            <a:ext cx="4558340" cy="37398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0A8EB8-0B5D-455B-AAF9-79111E0F2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93" y="3086309"/>
            <a:ext cx="6828877" cy="218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454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ECAE-3770-42B3-9527-03A53BE7D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Демонстрация работы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47FF0-AA49-4D03-B184-FB887AE88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91131"/>
            <a:ext cx="5528835" cy="780934"/>
          </a:xfrm>
        </p:spPr>
        <p:txBody>
          <a:bodyPr>
            <a:noAutofit/>
          </a:bodyPr>
          <a:lstStyle/>
          <a:p>
            <a:r>
              <a:rPr lang="ru-RU" sz="2400" dirty="0"/>
              <a:t>Отчет «Остатки лекарств»</a:t>
            </a:r>
          </a:p>
          <a:p>
            <a:r>
              <a:rPr lang="ru-RU" sz="2400" dirty="0"/>
              <a:t>Отчет «Продажи лекарств»</a:t>
            </a:r>
          </a:p>
          <a:p>
            <a:r>
              <a:rPr lang="ru-RU" sz="2400" dirty="0"/>
              <a:t>Отчет «Остатки номенклатуры»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F85F5C-509B-468A-AD0E-F58A21543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753" y="3437106"/>
            <a:ext cx="4225363" cy="32279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31975A-182A-4F02-94DA-179A17A7A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759" y="3429000"/>
            <a:ext cx="3622633" cy="3226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681465-1845-4D26-B771-2BC64E4D1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82" y="3429000"/>
            <a:ext cx="3379716" cy="323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627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607AF-2C30-411B-944A-F1A8EB8F2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Итоги проекта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A89D2-E480-40EB-BD53-D98BF93A7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Автоматизирован учёт закупок и продаж</a:t>
            </a:r>
          </a:p>
          <a:p>
            <a:r>
              <a:rPr lang="ru-RU" sz="2800" dirty="0"/>
              <a:t>Обеспечен контроль остатков лекарств и сырья</a:t>
            </a:r>
          </a:p>
          <a:p>
            <a:r>
              <a:rPr lang="ru-RU" sz="2800" dirty="0"/>
              <a:t>Реализована работа с клиентами и их питомцами</a:t>
            </a:r>
          </a:p>
          <a:p>
            <a:r>
              <a:rPr lang="ru-RU" sz="2800" dirty="0"/>
              <a:t>Проведено тестирование, устранены ошибки</a:t>
            </a:r>
          </a:p>
          <a:p>
            <a:r>
              <a:rPr lang="ru-RU" sz="2800" dirty="0"/>
              <a:t>Подготовлены инструкции для сотрудников</a:t>
            </a:r>
          </a:p>
        </p:txBody>
      </p:sp>
    </p:spTree>
    <p:extLst>
      <p:ext uri="{BB962C8B-B14F-4D97-AF65-F5344CB8AC3E}">
        <p14:creationId xmlns:p14="http://schemas.microsoft.com/office/powerpoint/2010/main" val="957865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C602C-DAEE-402E-B650-46026B9FA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Ссылки на документации и руководство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5C25EA4-9E6B-46F7-B7D8-E039B6EF2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56274"/>
            <a:ext cx="3101576" cy="6240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Документация о системе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50BFEF-5DDC-4731-A742-86AA3684D90E}"/>
              </a:ext>
            </a:extLst>
          </p:cNvPr>
          <p:cNvSpPr txBox="1">
            <a:spLocks/>
          </p:cNvSpPr>
          <p:nvPr/>
        </p:nvSpPr>
        <p:spPr>
          <a:xfrm>
            <a:off x="3101576" y="5456274"/>
            <a:ext cx="3101576" cy="624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Документация по дизайну и оформлению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675BDBD-B03B-44AB-A03C-EC5407261566}"/>
              </a:ext>
            </a:extLst>
          </p:cNvPr>
          <p:cNvSpPr txBox="1">
            <a:spLocks/>
          </p:cNvSpPr>
          <p:nvPr/>
        </p:nvSpPr>
        <p:spPr>
          <a:xfrm>
            <a:off x="6203152" y="5456274"/>
            <a:ext cx="3101576" cy="624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Документация о проведенном тестировании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7AD4F1C-2D07-4065-8D02-F40449B1DC4E}"/>
              </a:ext>
            </a:extLst>
          </p:cNvPr>
          <p:cNvSpPr txBox="1">
            <a:spLocks/>
          </p:cNvSpPr>
          <p:nvPr/>
        </p:nvSpPr>
        <p:spPr>
          <a:xfrm>
            <a:off x="9304728" y="5456274"/>
            <a:ext cx="2887270" cy="624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Руководство пользователя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383E139-92B7-4F7C-A503-D43EF756D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236" y="2604018"/>
            <a:ext cx="2852256" cy="2852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1D3B55E8-1286-4970-A816-AFC282199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235" y="2604018"/>
            <a:ext cx="2852256" cy="2852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9579AB-8F8A-4BA6-9A57-C26FC583D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44" y="2604018"/>
            <a:ext cx="2852256" cy="2852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C8CA90DA-F8AF-4A66-813E-ED4716D42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812" y="2604018"/>
            <a:ext cx="2852256" cy="2852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0671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512AB9-51E5-4E04-A5AA-366542360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73354249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Custom 1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5AC9D4"/>
      </a:accent1>
      <a:accent2>
        <a:srgbClr val="1D3F6B"/>
      </a:accent2>
      <a:accent3>
        <a:srgbClr val="D8D8D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451</TotalTime>
  <Words>343</Words>
  <Application>Microsoft Office PowerPoint</Application>
  <PresentationFormat>Widescreen</PresentationFormat>
  <Paragraphs>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Corbel</vt:lpstr>
      <vt:lpstr>Gill Sans MT</vt:lpstr>
      <vt:lpstr>Wingdings 2</vt:lpstr>
      <vt:lpstr>Dividend</vt:lpstr>
      <vt:lpstr>Информационная система ветклиники (управления продажами и закупками товаров)</vt:lpstr>
      <vt:lpstr>Проблемы и цель проекта</vt:lpstr>
      <vt:lpstr>Функционал системы</vt:lpstr>
      <vt:lpstr>Разграничение функционала по ролям</vt:lpstr>
      <vt:lpstr>Разграничение функционала по ролям</vt:lpstr>
      <vt:lpstr>Разграничение функционала по ролям</vt:lpstr>
      <vt:lpstr>Интерфейс и дизайн</vt:lpstr>
      <vt:lpstr>Интерфейс и дизайн</vt:lpstr>
      <vt:lpstr>Демонстрация работы</vt:lpstr>
      <vt:lpstr>Демонстрация работы</vt:lpstr>
      <vt:lpstr>Демонстрация работы</vt:lpstr>
      <vt:lpstr>Демонстрация работы</vt:lpstr>
      <vt:lpstr>Итоги проекта</vt:lpstr>
      <vt:lpstr>Ссылки на документации и руководство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система ветклиники (управления продажами и закупками товаров)</dc:title>
  <dc:creator>Алексей Жуйков</dc:creator>
  <cp:lastModifiedBy>Алексей Жуйков</cp:lastModifiedBy>
  <cp:revision>21</cp:revision>
  <dcterms:created xsi:type="dcterms:W3CDTF">2025-09-16T20:37:05Z</dcterms:created>
  <dcterms:modified xsi:type="dcterms:W3CDTF">2025-10-22T15:05:46Z</dcterms:modified>
</cp:coreProperties>
</file>